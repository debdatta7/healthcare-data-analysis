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Raleway" pitchFamily="2" charset="0"/>
      <p:regular r:id="rId15"/>
    </p:embeddedFont>
    <p:embeddedFont>
      <p:font typeface="Roboto" panose="02000000000000000000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112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End-to-End Healthcare Data Analysis</a:t>
            </a:r>
            <a:endParaRPr lang="en-US" sz="4450" b="1" dirty="0"/>
          </a:p>
        </p:txBody>
      </p:sp>
      <p:sp>
        <p:nvSpPr>
          <p:cNvPr id="5" name="Text 2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examination of hospital admissions, costs, patient outcomes, and operational efficiency using Python, Pandas, and Matplotlib to uncover actionable insights for healthcare optimization.</a:t>
            </a:r>
            <a:endParaRPr lang="en-US" sz="175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C0F667-9091-2504-E785-55FFCDA0C0A1}"/>
              </a:ext>
            </a:extLst>
          </p:cNvPr>
          <p:cNvSpPr/>
          <p:nvPr/>
        </p:nvSpPr>
        <p:spPr>
          <a:xfrm>
            <a:off x="8453081" y="2571730"/>
            <a:ext cx="5956147" cy="375503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057121-ADCB-DEEC-DE84-511600666FB1}"/>
              </a:ext>
            </a:extLst>
          </p:cNvPr>
          <p:cNvSpPr/>
          <p:nvPr/>
        </p:nvSpPr>
        <p:spPr>
          <a:xfrm>
            <a:off x="12858750" y="7738110"/>
            <a:ext cx="1771650" cy="49149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7879415-F9ED-1779-1A70-D7E55DE722FF}"/>
              </a:ext>
            </a:extLst>
          </p:cNvPr>
          <p:cNvSpPr/>
          <p:nvPr/>
        </p:nvSpPr>
        <p:spPr>
          <a:xfrm>
            <a:off x="793790" y="6058279"/>
            <a:ext cx="2269450" cy="536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Debdatta Mukherjee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9857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</a:t>
            </a:r>
            <a:endParaRPr lang="en-US" sz="4000" b="1" dirty="0"/>
          </a:p>
        </p:txBody>
      </p:sp>
      <p:sp>
        <p:nvSpPr>
          <p:cNvPr id="3" name="Text 1"/>
          <p:cNvSpPr/>
          <p:nvPr/>
        </p:nvSpPr>
        <p:spPr>
          <a:xfrm>
            <a:off x="793790" y="1838563"/>
            <a:ext cx="6272451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571780" y="1857018"/>
            <a:ext cx="377963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Comprehensive Patient Records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571780" y="2359581"/>
            <a:ext cx="6272451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analysis leverages a rich healthcare dataset encompassing multiple critical dimensions of patient care and hospital operations.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71780" y="3186827"/>
            <a:ext cx="3044309" cy="1236226"/>
          </a:xfrm>
          <a:prstGeom prst="roundRect">
            <a:avLst>
              <a:gd name="adj" fmla="val 693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83473" y="339852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Admissions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83473" y="3901083"/>
            <a:ext cx="262092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 intake patterns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799802" y="3186827"/>
            <a:ext cx="3044428" cy="1236226"/>
          </a:xfrm>
          <a:prstGeom prst="roundRect">
            <a:avLst>
              <a:gd name="adj" fmla="val 693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11495" y="3398520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Billing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011495" y="3901083"/>
            <a:ext cx="26210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structures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71780" y="4606766"/>
            <a:ext cx="3044309" cy="1236226"/>
          </a:xfrm>
          <a:prstGeom prst="roundRect">
            <a:avLst>
              <a:gd name="adj" fmla="val 693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83473" y="481845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Hospitals &amp; Doctors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83473" y="5321022"/>
            <a:ext cx="2620923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Provider networks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9802" y="4606766"/>
            <a:ext cx="3044428" cy="1236226"/>
          </a:xfrm>
          <a:prstGeom prst="roundRect">
            <a:avLst>
              <a:gd name="adj" fmla="val 693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11495" y="481845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Insurance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011495" y="5321022"/>
            <a:ext cx="2621042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Coverage analysis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71780" y="6026706"/>
            <a:ext cx="6272451" cy="1236226"/>
          </a:xfrm>
          <a:prstGeom prst="roundRect">
            <a:avLst>
              <a:gd name="adj" fmla="val 693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83473" y="6238399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Results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83473" y="6740962"/>
            <a:ext cx="5849064" cy="310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Clinical outcomes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C673269-E1AD-79C1-9F72-0FB418F59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25" y="1688775"/>
            <a:ext cx="7002542" cy="578096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96A3795-027E-FB38-DD04-8260FE556A8F}"/>
              </a:ext>
            </a:extLst>
          </p:cNvPr>
          <p:cNvSpPr/>
          <p:nvPr/>
        </p:nvSpPr>
        <p:spPr>
          <a:xfrm>
            <a:off x="12858750" y="7738110"/>
            <a:ext cx="1771650" cy="49149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9680"/>
            <a:ext cx="72573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Admission Type Distribution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93790" y="30856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599521" y="3085624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Elective admissions represent nearly half of all hospital inflow, dominating patient intake patterns. This distribution has significant implications for staffing requirements, resource allocation, and operational planning.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4741307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admission type distribution helps hospitals optimize emergency department capacity and balance elective procedure scheduling to maintain operational efficiency.</a:t>
            </a: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BF9A11-8E47-FA65-532A-BA944AF3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90" y="2708254"/>
            <a:ext cx="6919209" cy="499210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1B424F5-4431-14FE-427C-F7A9960B9ADD}"/>
              </a:ext>
            </a:extLst>
          </p:cNvPr>
          <p:cNvSpPr/>
          <p:nvPr/>
        </p:nvSpPr>
        <p:spPr>
          <a:xfrm>
            <a:off x="12861250" y="7700362"/>
            <a:ext cx="1748790" cy="529238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1543"/>
            <a:ext cx="65820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Monthly Admission Trend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93790" y="292048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patient admission analysis reveals clear seasonality patterns and identifies peak demand periods. These trends enable predictive staffing models and proactive resource planning.</a:t>
            </a: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59CF1D7-B698-0825-E2A3-94B14C350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756" y="3825050"/>
            <a:ext cx="11096888" cy="400856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E8AEC87-C9A7-8E83-F3D4-8F5852030994}"/>
              </a:ext>
            </a:extLst>
          </p:cNvPr>
          <p:cNvSpPr/>
          <p:nvPr/>
        </p:nvSpPr>
        <p:spPr>
          <a:xfrm>
            <a:off x="12861250" y="7700362"/>
            <a:ext cx="1748790" cy="529238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231" y="403979"/>
            <a:ext cx="4810601" cy="459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Hospitals by Admissions</a:t>
            </a:r>
            <a:endParaRPr lang="en-US" sz="2850" b="1" dirty="0"/>
          </a:p>
        </p:txBody>
      </p:sp>
      <p:sp>
        <p:nvSpPr>
          <p:cNvPr id="3" name="Text 1"/>
          <p:cNvSpPr/>
          <p:nvPr/>
        </p:nvSpPr>
        <p:spPr>
          <a:xfrm>
            <a:off x="514231" y="1100852"/>
            <a:ext cx="1902619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 Concentration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14231" y="1669018"/>
            <a:ext cx="6621780" cy="88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small subset of hospitals manages the majority of patient admissions, creating concentrated operational pressure and resource demands.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081" y="3570565"/>
            <a:ext cx="3251359" cy="484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134904" y="4200168"/>
            <a:ext cx="1895713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High-Volume Facilities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081" y="4524851"/>
            <a:ext cx="3251359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 for 60% of total admissions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27383" y="3570565"/>
            <a:ext cx="3251478" cy="484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2.3x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34853" y="4200168"/>
            <a:ext cx="1836539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Load Differential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27383" y="4547711"/>
            <a:ext cx="3251478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vs. high-volume hospitals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14231" y="7948613"/>
            <a:ext cx="13601938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concentration indicates significant capacity challenges at major facilities and suggests opportunities for load balancing across regional healthcare networks.</a:t>
            </a:r>
            <a:endParaRPr lang="en-US" sz="11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135CA3-653A-BBCF-F3BF-09D9BCCC4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727" y="1812726"/>
            <a:ext cx="7246169" cy="516028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ABCB31C-9F33-BCA8-6E8A-FBB06F27D26A}"/>
              </a:ext>
            </a:extLst>
          </p:cNvPr>
          <p:cNvSpPr/>
          <p:nvPr/>
        </p:nvSpPr>
        <p:spPr>
          <a:xfrm>
            <a:off x="12836009" y="7615834"/>
            <a:ext cx="1771650" cy="49149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76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Billing Overview</a:t>
            </a:r>
            <a:endParaRPr lang="en-US" sz="4450" b="1" dirty="0"/>
          </a:p>
        </p:txBody>
      </p:sp>
      <p:sp>
        <p:nvSpPr>
          <p:cNvPr id="3" name="Shape 1"/>
          <p:cNvSpPr/>
          <p:nvPr/>
        </p:nvSpPr>
        <p:spPr>
          <a:xfrm>
            <a:off x="793790" y="3000018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234452"/>
            <a:ext cx="30794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Average Billing Amount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724870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$25539.32 per admission across all admission types, with significant variation by condition severity and length of stay.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000018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2344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Minimum Billing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724870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$1,003 for routine outpatient procedures with minimal resource utilization and short visit duration.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000018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2344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Maximum Billing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724870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$52,764 for complex cases requiring extended intensive care, surgical intervention, and specialized treatments.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66606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Major cost drivers include surgical procedures, intensive care utilization, diagnostic imaging, and specialized pharmaceutical treatments. Understanding these patterns enables targeted cost management strategies.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2045C3-CBB1-1B93-7F41-6BF6BF166EE6}"/>
              </a:ext>
            </a:extLst>
          </p:cNvPr>
          <p:cNvSpPr/>
          <p:nvPr/>
        </p:nvSpPr>
        <p:spPr>
          <a:xfrm>
            <a:off x="12858750" y="7738110"/>
            <a:ext cx="1771650" cy="49149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2551"/>
            <a:ext cx="89151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Highest Billing Medical Conditions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93790" y="326707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Certain medical conditions contribute disproportionately to total healthcare revenue, with chronic diseases and acute emergencies generating the highest costs.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59856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high-cost conditions require comprehensive care coordination, specialized resources, and extended treatment protocols that significantly impact hospital financial performance.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26707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32B038-1C8B-952A-3576-7A23FBBAF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388870"/>
            <a:ext cx="6898293" cy="47082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7E0C56-4B85-C954-610B-B51BB5794EE1}"/>
              </a:ext>
            </a:extLst>
          </p:cNvPr>
          <p:cNvSpPr/>
          <p:nvPr/>
        </p:nvSpPr>
        <p:spPr>
          <a:xfrm>
            <a:off x="12858750" y="7738110"/>
            <a:ext cx="1771650" cy="49149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0329"/>
            <a:ext cx="422826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Length of Stay Analysis</a:t>
            </a:r>
            <a:endParaRPr lang="en-US" sz="3100" b="1" dirty="0"/>
          </a:p>
        </p:txBody>
      </p:sp>
      <p:sp>
        <p:nvSpPr>
          <p:cNvPr id="4" name="Text 1"/>
          <p:cNvSpPr/>
          <p:nvPr/>
        </p:nvSpPr>
        <p:spPr>
          <a:xfrm>
            <a:off x="7516416" y="1504236"/>
            <a:ext cx="203108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Stay Duration Patterns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516416" y="1863328"/>
            <a:ext cx="6327815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length of stay varies significantly by admission type, patient age, and medical condition complexity. Emergency admissions and elderly patients require substantially longer hospitalization periods.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516416" y="2874407"/>
            <a:ext cx="6327815" cy="1153478"/>
          </a:xfrm>
          <a:prstGeom prst="roundRect">
            <a:avLst>
              <a:gd name="adj" fmla="val 951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516416" y="2851547"/>
            <a:ext cx="6327815" cy="91440"/>
          </a:xfrm>
          <a:prstGeom prst="roundRect">
            <a:avLst>
              <a:gd name="adj" fmla="val 72930"/>
            </a:avLst>
          </a:prstGeom>
          <a:solidFill>
            <a:srgbClr val="1B1B27"/>
          </a:solidFill>
          <a:ln/>
        </p:spPr>
      </p:sp>
      <p:sp>
        <p:nvSpPr>
          <p:cNvPr id="8" name="Shape 5"/>
          <p:cNvSpPr/>
          <p:nvPr/>
        </p:nvSpPr>
        <p:spPr>
          <a:xfrm>
            <a:off x="10442138" y="2636282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1B27"/>
          </a:solidFill>
          <a:ln/>
        </p:spPr>
      </p:sp>
      <p:sp>
        <p:nvSpPr>
          <p:cNvPr id="9" name="Text 6"/>
          <p:cNvSpPr/>
          <p:nvPr/>
        </p:nvSpPr>
        <p:spPr>
          <a:xfrm>
            <a:off x="10585013" y="2755344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97986" y="327124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Emergency Cases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697986" y="3630335"/>
            <a:ext cx="596467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 days average stay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516416" y="4377095"/>
            <a:ext cx="6327815" cy="1153478"/>
          </a:xfrm>
          <a:prstGeom prst="roundRect">
            <a:avLst>
              <a:gd name="adj" fmla="val 951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516416" y="4354235"/>
            <a:ext cx="6327815" cy="91440"/>
          </a:xfrm>
          <a:prstGeom prst="roundRect">
            <a:avLst>
              <a:gd name="adj" fmla="val 72930"/>
            </a:avLst>
          </a:prstGeom>
          <a:solidFill>
            <a:srgbClr val="1B1B27"/>
          </a:solidFill>
          <a:ln/>
        </p:spPr>
      </p:sp>
      <p:sp>
        <p:nvSpPr>
          <p:cNvPr id="14" name="Shape 11"/>
          <p:cNvSpPr/>
          <p:nvPr/>
        </p:nvSpPr>
        <p:spPr>
          <a:xfrm>
            <a:off x="10442138" y="413897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1B27"/>
          </a:solidFill>
          <a:ln/>
        </p:spPr>
      </p:sp>
      <p:sp>
        <p:nvSpPr>
          <p:cNvPr id="15" name="Text 12"/>
          <p:cNvSpPr/>
          <p:nvPr/>
        </p:nvSpPr>
        <p:spPr>
          <a:xfrm>
            <a:off x="10585013" y="4258032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697986" y="477393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Elective Procedures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697986" y="5133023"/>
            <a:ext cx="596467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 days average stay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516416" y="5879782"/>
            <a:ext cx="6327815" cy="1153478"/>
          </a:xfrm>
          <a:prstGeom prst="roundRect">
            <a:avLst>
              <a:gd name="adj" fmla="val 951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516416" y="5856923"/>
            <a:ext cx="6327815" cy="91440"/>
          </a:xfrm>
          <a:prstGeom prst="roundRect">
            <a:avLst>
              <a:gd name="adj" fmla="val 72930"/>
            </a:avLst>
          </a:prstGeom>
          <a:solidFill>
            <a:srgbClr val="1B1B27"/>
          </a:solidFill>
          <a:ln/>
        </p:spPr>
      </p:sp>
      <p:sp>
        <p:nvSpPr>
          <p:cNvPr id="20" name="Shape 17"/>
          <p:cNvSpPr/>
          <p:nvPr/>
        </p:nvSpPr>
        <p:spPr>
          <a:xfrm>
            <a:off x="10442138" y="5641658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B1B27"/>
          </a:solidFill>
          <a:ln/>
        </p:spPr>
      </p:sp>
      <p:sp>
        <p:nvSpPr>
          <p:cNvPr id="21" name="Text 18"/>
          <p:cNvSpPr/>
          <p:nvPr/>
        </p:nvSpPr>
        <p:spPr>
          <a:xfrm>
            <a:off x="10585013" y="5760720"/>
            <a:ext cx="190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697986" y="627661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 Factor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7697986" y="6635710"/>
            <a:ext cx="596467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Patients over 65 stay 40% longer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93790" y="7283291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Extended stays directly correlate with higher costs and resource utilization, making length of stay a critical metric for operational efficiency and quality improvement initiatives.</a:t>
            </a:r>
            <a:endParaRPr lang="en-US" sz="12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48F0320-D68C-EBDC-09B1-7B96E4F73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70" y="1651618"/>
            <a:ext cx="6505676" cy="481776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A558BE8-42AD-1D27-CBEC-0217A4AE2028}"/>
              </a:ext>
            </a:extLst>
          </p:cNvPr>
          <p:cNvSpPr/>
          <p:nvPr/>
        </p:nvSpPr>
        <p:spPr>
          <a:xfrm>
            <a:off x="12858750" y="7738110"/>
            <a:ext cx="1771650" cy="49149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454</Words>
  <Application>Microsoft Office PowerPoint</Application>
  <PresentationFormat>Custom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Arial</vt:lpstr>
      <vt:lpstr>Raleway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Debdatta</cp:lastModifiedBy>
  <cp:revision>10</cp:revision>
  <dcterms:created xsi:type="dcterms:W3CDTF">2026-01-27T17:14:47Z</dcterms:created>
  <dcterms:modified xsi:type="dcterms:W3CDTF">2026-01-27T18:29:03Z</dcterms:modified>
</cp:coreProperties>
</file>